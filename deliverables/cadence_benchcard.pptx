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17320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" y="1344168"/>
            <a:ext cx="54864" cy="7315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0020" y="1220566"/>
            <a:ext cx="54864" cy="19675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" y="1142481"/>
            <a:ext cx="54864" cy="274839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6908" y="1134937"/>
            <a:ext cx="54864" cy="282383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191543"/>
            <a:ext cx="54864" cy="22577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3796" y="1278220"/>
            <a:ext cx="54864" cy="13910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338569"/>
            <a:ext cx="54864" cy="7875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0684" y="1316892"/>
            <a:ext cx="54864" cy="10042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1335388"/>
            <a:ext cx="54864" cy="8193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7572" y="1264141"/>
            <a:ext cx="54864" cy="153179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71016" y="1199648"/>
            <a:ext cx="54864" cy="21767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94460" y="1182912"/>
            <a:ext cx="54864" cy="23440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17904" y="1233942"/>
            <a:ext cx="54864" cy="18337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41348" y="1341459"/>
            <a:ext cx="54864" cy="7586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64792" y="1221053"/>
            <a:ext cx="54864" cy="19626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88236" y="1124949"/>
            <a:ext cx="54864" cy="29237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094654"/>
            <a:ext cx="54864" cy="32266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35124" y="1138010"/>
            <a:ext cx="54864" cy="27931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58568" y="1231385"/>
            <a:ext cx="54864" cy="18593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82012" y="1331024"/>
            <a:ext cx="54864" cy="8629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05456" y="1294721"/>
            <a:ext cx="54864" cy="122599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28900" y="1291933"/>
            <a:ext cx="54864" cy="12538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52344" y="1340928"/>
            <a:ext cx="54864" cy="7639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75788" y="1280975"/>
            <a:ext cx="54864" cy="13634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99232" y="1240805"/>
            <a:ext cx="54864" cy="17651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22676" y="1258496"/>
            <a:ext cx="54864" cy="15882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46120" y="1337765"/>
            <a:ext cx="54864" cy="7955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69564" y="1236513"/>
            <a:ext cx="54864" cy="18080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93008" y="1133116"/>
            <a:ext cx="54864" cy="28420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6452" y="1083716"/>
            <a:ext cx="54864" cy="33360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39896" y="1109529"/>
            <a:ext cx="54864" cy="30779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63340" y="1199827"/>
            <a:ext cx="54864" cy="217493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86784" y="1316875"/>
            <a:ext cx="54864" cy="10044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10228" y="1274998"/>
            <a:ext cx="54864" cy="142322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33672" y="1234352"/>
            <a:ext cx="54864" cy="18296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57116" y="1256815"/>
            <a:ext cx="54864" cy="16050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80560" y="1319169"/>
            <a:ext cx="54864" cy="9815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4004" y="1308816"/>
            <a:ext cx="54864" cy="10850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727448" y="1290423"/>
            <a:ext cx="54864" cy="12689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50892" y="1332372"/>
            <a:ext cx="54864" cy="8494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74336" y="1266206"/>
            <a:ext cx="54864" cy="15111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97780" y="1166722"/>
            <a:ext cx="54864" cy="25059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21224" y="1103531"/>
            <a:ext cx="54864" cy="313789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44668" y="1108999"/>
            <a:ext cx="54864" cy="30832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468112" y="1186426"/>
            <a:ext cx="54864" cy="23089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91556" y="1308070"/>
            <a:ext cx="54864" cy="10925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1260773"/>
            <a:ext cx="54864" cy="15654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838444" y="1187399"/>
            <a:ext cx="54864" cy="22992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961888" y="1181924"/>
            <a:ext cx="54864" cy="23539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85332" y="1234616"/>
            <a:ext cx="54864" cy="18270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08776" y="1309699"/>
            <a:ext cx="54864" cy="107621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32220" y="1325356"/>
            <a:ext cx="54864" cy="9196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55664" y="1325065"/>
            <a:ext cx="54864" cy="9225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79108" y="1307507"/>
            <a:ext cx="54864" cy="109813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702552" y="1222395"/>
            <a:ext cx="54864" cy="194925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825996" y="1151823"/>
            <a:ext cx="54864" cy="26549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949440" y="1135936"/>
            <a:ext cx="54864" cy="281384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72884" y="1191750"/>
            <a:ext cx="54864" cy="225570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196328" y="1304464"/>
            <a:ext cx="54864" cy="112856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319772" y="1254753"/>
            <a:ext cx="54864" cy="162567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443216" y="1157272"/>
            <a:ext cx="54864" cy="260048"/>
          </a:xfrm>
          <a:prstGeom prst="rect">
            <a:avLst/>
          </a:prstGeom>
          <a:solidFill>
            <a:srgbClr val="2BB7A3">
              <a:alpha val="26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237744"/>
            <a:ext cx="655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BB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ENGF0031  ·  SCENARIO 2  ·  LIVE DEMO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02920" y="457200"/>
            <a:ext cx="6556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— Demo Run Card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502920" y="1042416"/>
            <a:ext cx="6556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Freeze-of-gait monitor  ·  one ankle accelerometer  ·  on-body OLED + wireless dashboard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02920" y="1627632"/>
            <a:ext cx="6556248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31520" y="1792224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83664"/>
            <a:ext cx="182880" cy="182880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1207008" y="176479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 —  in this order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749808" y="2304288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2" name="Text 69"/>
          <p:cNvSpPr/>
          <p:nvPr/>
        </p:nvSpPr>
        <p:spPr>
          <a:xfrm>
            <a:off x="749808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Text 70"/>
          <p:cNvSpPr/>
          <p:nvPr/>
        </p:nvSpPr>
        <p:spPr>
          <a:xfrm>
            <a:off x="1161288" y="2267712"/>
            <a:ext cx="55961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both boards: CPX on its LiPo, ESP32 on a USB power bank. The CPX OLED shows the CADENCE splash.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749808" y="2738628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5" name="Text 72"/>
          <p:cNvSpPr/>
          <p:nvPr/>
        </p:nvSpPr>
        <p:spPr>
          <a:xfrm>
            <a:off x="749808" y="27386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6" name="Text 73"/>
          <p:cNvSpPr/>
          <p:nvPr/>
        </p:nvSpPr>
        <p:spPr>
          <a:xfrm>
            <a:off x="1161288" y="2702052"/>
            <a:ext cx="55961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laptop, join Wi-Fi  Cadence-Hub  (password  cadence123), then open  http://192.168.4.1/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749808" y="3172968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8" name="Text 75"/>
          <p:cNvSpPr/>
          <p:nvPr/>
        </p:nvSpPr>
        <p:spPr>
          <a:xfrm>
            <a:off x="749808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9" name="Text 76"/>
          <p:cNvSpPr/>
          <p:nvPr/>
        </p:nvSpPr>
        <p:spPr>
          <a:xfrm>
            <a:off x="1161288" y="3136392"/>
            <a:ext cx="55961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still and press button A on the CPX.  "CALIB" shows for ~4 s, then the movement floor is set.</a:t>
            </a:r>
            <a:endParaRPr lang="en-US" sz="1150" dirty="0"/>
          </a:p>
        </p:txBody>
      </p:sp>
      <p:sp>
        <p:nvSpPr>
          <p:cNvPr id="80" name="Shape 77"/>
          <p:cNvSpPr/>
          <p:nvPr/>
        </p:nvSpPr>
        <p:spPr>
          <a:xfrm>
            <a:off x="749808" y="3607308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1" name="Text 78"/>
          <p:cNvSpPr/>
          <p:nvPr/>
        </p:nvSpPr>
        <p:spPr>
          <a:xfrm>
            <a:off x="74980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2" name="Text 79"/>
          <p:cNvSpPr/>
          <p:nvPr/>
        </p:nvSpPr>
        <p:spPr>
          <a:xfrm>
            <a:off x="1161288" y="3570732"/>
            <a:ext cx="55961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normally  →  green LED ring + "WALKING" on the OLED + a live accel trace on the dashboard.</a:t>
            </a:r>
            <a:endParaRPr lang="en-US" sz="1150" dirty="0"/>
          </a:p>
        </p:txBody>
      </p:sp>
      <p:sp>
        <p:nvSpPr>
          <p:cNvPr id="83" name="Shape 80"/>
          <p:cNvSpPr/>
          <p:nvPr/>
        </p:nvSpPr>
        <p:spPr>
          <a:xfrm>
            <a:off x="749808" y="4041648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4" name="Text 81"/>
          <p:cNvSpPr/>
          <p:nvPr/>
        </p:nvSpPr>
        <p:spPr>
          <a:xfrm>
            <a:off x="749808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85" name="Text 82"/>
          <p:cNvSpPr/>
          <p:nvPr/>
        </p:nvSpPr>
        <p:spPr>
          <a:xfrm>
            <a:off x="1161288" y="4005072"/>
            <a:ext cx="55961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Provoke a freeze: buzz the foot fast in place — don't step  →  red ring + inverted "FREEZE", and  freezes: N  ticks up.</a:t>
            </a:r>
            <a:endParaRPr lang="en-US" sz="1150" dirty="0"/>
          </a:p>
        </p:txBody>
      </p:sp>
      <p:sp>
        <p:nvSpPr>
          <p:cNvPr id="86" name="Shape 83"/>
          <p:cNvSpPr/>
          <p:nvPr/>
        </p:nvSpPr>
        <p:spPr>
          <a:xfrm>
            <a:off x="502920" y="4718304"/>
            <a:ext cx="315925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87" name="Shape 84"/>
          <p:cNvSpPr/>
          <p:nvPr/>
        </p:nvSpPr>
        <p:spPr>
          <a:xfrm>
            <a:off x="685800" y="488289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974336"/>
            <a:ext cx="182880" cy="182880"/>
          </a:xfrm>
          <a:prstGeom prst="rect">
            <a:avLst/>
          </a:prstGeom>
        </p:spPr>
      </p:pic>
      <p:sp>
        <p:nvSpPr>
          <p:cNvPr id="89" name="Text 85"/>
          <p:cNvSpPr/>
          <p:nvPr/>
        </p:nvSpPr>
        <p:spPr>
          <a:xfrm>
            <a:off x="1161288" y="485546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BODY (CPX)</a:t>
            </a:r>
            <a:endParaRPr lang="en-US" sz="1600" dirty="0"/>
          </a:p>
        </p:txBody>
      </p:sp>
      <p:sp>
        <p:nvSpPr>
          <p:cNvPr id="90" name="Text 86"/>
          <p:cNvSpPr/>
          <p:nvPr/>
        </p:nvSpPr>
        <p:spPr>
          <a:xfrm>
            <a:off x="740664" y="5394960"/>
            <a:ext cx="270205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OLED, big:  WALKING / STILL / FREEZE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  x.xx / 1.82   (ratio vs threshold)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energy / floor   (the movement gate)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freezes: N   (confirmed-onset count)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ring:  green = walk,  teal = still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= calibrating,   red = FREEZE</a:t>
            </a:r>
            <a:endParaRPr lang="en-US" sz="1060" dirty="0"/>
          </a:p>
        </p:txBody>
      </p:sp>
      <p:sp>
        <p:nvSpPr>
          <p:cNvPr id="91" name="Shape 87"/>
          <p:cNvSpPr/>
          <p:nvPr/>
        </p:nvSpPr>
        <p:spPr>
          <a:xfrm>
            <a:off x="3899916" y="4718304"/>
            <a:ext cx="315925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92" name="Shape 88"/>
          <p:cNvSpPr/>
          <p:nvPr/>
        </p:nvSpPr>
        <p:spPr>
          <a:xfrm>
            <a:off x="4082796" y="48828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6" y="4974336"/>
            <a:ext cx="182880" cy="182880"/>
          </a:xfrm>
          <a:prstGeom prst="rect">
            <a:avLst/>
          </a:prstGeom>
        </p:spPr>
      </p:pic>
      <p:sp>
        <p:nvSpPr>
          <p:cNvPr id="94" name="Text 89"/>
          <p:cNvSpPr/>
          <p:nvPr/>
        </p:nvSpPr>
        <p:spPr>
          <a:xfrm>
            <a:off x="4558284" y="485546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(ESP32)</a:t>
            </a:r>
            <a:endParaRPr lang="en-US" sz="1600" dirty="0"/>
          </a:p>
        </p:txBody>
      </p:sp>
      <p:sp>
        <p:nvSpPr>
          <p:cNvPr id="95" name="Text 90"/>
          <p:cNvSpPr/>
          <p:nvPr/>
        </p:nvSpPr>
        <p:spPr>
          <a:xfrm>
            <a:off x="4137660" y="5394960"/>
            <a:ext cx="270205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b="1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Hotspot:  Cadence-Hub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  cadence123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 http://192.168.4.1/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trace, freeze state, HR/SpO2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LED: solid = browser on, blink = wait</a:t>
            </a:r>
            <a:endParaRPr lang="en-US" sz="106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60" dirty="0">
                <a:solidFill>
                  <a:srgbClr val="5E7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 on the MAX30102 for HR/SpO2</a:t>
            </a:r>
            <a:endParaRPr lang="en-US" sz="1060" dirty="0"/>
          </a:p>
        </p:txBody>
      </p:sp>
      <p:sp>
        <p:nvSpPr>
          <p:cNvPr id="96" name="Shape 91"/>
          <p:cNvSpPr/>
          <p:nvPr/>
        </p:nvSpPr>
        <p:spPr>
          <a:xfrm>
            <a:off x="502920" y="7315200"/>
            <a:ext cx="655624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sx="100000" sy="100000" kx="0" ky="0" algn="bl" rotWithShape="0" blurRad="88900" dist="38100" dir="5400000">
              <a:srgbClr val="0B3B4A">
                <a:alpha val="12000"/>
              </a:srgbClr>
            </a:outerShdw>
          </a:effectLst>
        </p:spPr>
      </p:sp>
      <p:sp>
        <p:nvSpPr>
          <p:cNvPr id="97" name="Shape 92"/>
          <p:cNvSpPr/>
          <p:nvPr/>
        </p:nvSpPr>
        <p:spPr>
          <a:xfrm>
            <a:off x="731520" y="7479792"/>
            <a:ext cx="365760" cy="365760"/>
          </a:xfrm>
          <a:prstGeom prst="ellipse">
            <a:avLst/>
          </a:prstGeom>
          <a:solidFill>
            <a:srgbClr val="C0603A"/>
          </a:solidFill>
          <a:ln/>
        </p:spPr>
      </p:sp>
      <p:pic>
        <p:nvPicPr>
          <p:cNvPr id="9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7571232"/>
            <a:ext cx="182880" cy="182880"/>
          </a:xfrm>
          <a:prstGeom prst="rect">
            <a:avLst/>
          </a:prstGeom>
        </p:spPr>
      </p:pic>
      <p:sp>
        <p:nvSpPr>
          <p:cNvPr id="99" name="Text 93"/>
          <p:cNvSpPr/>
          <p:nvPr/>
        </p:nvSpPr>
        <p:spPr>
          <a:xfrm>
            <a:off x="1207008" y="745236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MISBEHAVES</a:t>
            </a:r>
            <a:endParaRPr lang="en-US" sz="1600" dirty="0"/>
          </a:p>
        </p:txBody>
      </p:sp>
      <p:sp>
        <p:nvSpPr>
          <p:cNvPr id="100" name="Text 94"/>
          <p:cNvSpPr/>
          <p:nvPr/>
        </p:nvSpPr>
        <p:spPr>
          <a:xfrm>
            <a:off x="758952" y="7991856"/>
            <a:ext cx="6044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0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blank  —  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SDA=A5 / SCL=A4 and a shared GND; some panels are at 0x3D, not 0x3C.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C0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won't load  —  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joined to Cadence-Hub (not your usual Wi-Fi); it has no internet, which is normal.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C0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STILL / never FREEZE  —  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stop reads STILL — buzz the foot fast in place; if still nothing, re-calibrate (button A while truly still).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C0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while standing still  —  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re-calibrate; the movement floor is set too low for this wearer/surface.</a:t>
            </a:r>
            <a:endParaRPr lang="en-US" sz="1080" dirty="0"/>
          </a:p>
          <a:p>
            <a:pPr algn="l" indent="0" marL="0">
              <a:buNone/>
            </a:pPr>
            <a:r>
              <a:rPr lang="en-US" sz="1080" b="1" dirty="0">
                <a:solidFill>
                  <a:srgbClr val="C0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SpO2 blank  —  </a:t>
            </a:r>
            <a:pPr algn="l" indent="0" marL="0">
              <a:spcAft>
                <a:spcPts val="700"/>
              </a:spcAft>
              <a:buNone/>
            </a:pPr>
            <a:r>
              <a:rPr lang="en-US" sz="1080" dirty="0">
                <a:solidFill>
                  <a:srgbClr val="123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 fingertip on the MAX30102 and hold still ~10 s for a valid reading.</a:t>
            </a:r>
            <a:endParaRPr lang="en-US" sz="1080" dirty="0"/>
          </a:p>
        </p:txBody>
      </p:sp>
      <p:sp>
        <p:nvSpPr>
          <p:cNvPr id="101" name="Shape 95"/>
          <p:cNvSpPr/>
          <p:nvPr/>
        </p:nvSpPr>
        <p:spPr>
          <a:xfrm>
            <a:off x="0" y="10122408"/>
            <a:ext cx="7562088" cy="566928"/>
          </a:xfrm>
          <a:prstGeom prst="rect">
            <a:avLst/>
          </a:prstGeom>
          <a:solidFill>
            <a:srgbClr val="0B3B4A"/>
          </a:solidFill>
          <a:ln/>
        </p:spPr>
      </p:sp>
      <p:sp>
        <p:nvSpPr>
          <p:cNvPr id="102" name="Text 96"/>
          <p:cNvSpPr/>
          <p:nvPr/>
        </p:nvSpPr>
        <p:spPr>
          <a:xfrm>
            <a:off x="502920" y="10186416"/>
            <a:ext cx="6556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F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 — not a medical device.   Detector: Freeze Index (Moore 2008) + movement gate (Bachlin 2010); the CNN is an offline benchmark.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— Demo Run Card</dc:title>
  <dc:subject>PptxGenJS Presentation</dc:subject>
  <dc:creator>UCL ENGF0031 Scenario 2</dc:creator>
  <cp:lastModifiedBy>UCL ENGF0031 Scenario 2</cp:lastModifiedBy>
  <cp:revision>1</cp:revision>
  <dcterms:created xsi:type="dcterms:W3CDTF">2026-06-04T08:43:25Z</dcterms:created>
  <dcterms:modified xsi:type="dcterms:W3CDTF">2026-06-04T08:43:25Z</dcterms:modified>
</cp:coreProperties>
</file>