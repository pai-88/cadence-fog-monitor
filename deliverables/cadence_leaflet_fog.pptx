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331720"/>
          </a:xfrm>
          <a:prstGeom prst="rect">
            <a:avLst/>
          </a:prstGeom>
          <a:solidFill>
            <a:srgbClr val="0B3B4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" y="2240280"/>
            <a:ext cx="54864" cy="91440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60020" y="2097662"/>
            <a:ext cx="54864" cy="234058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" y="2007564"/>
            <a:ext cx="54864" cy="324156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6908" y="1998859"/>
            <a:ext cx="54864" cy="33286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2064174"/>
            <a:ext cx="54864" cy="267546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3796" y="2164186"/>
            <a:ext cx="54864" cy="16753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233820"/>
            <a:ext cx="54864" cy="97900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00684" y="2208808"/>
            <a:ext cx="54864" cy="12291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" y="2230149"/>
            <a:ext cx="54864" cy="10157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7572" y="2147941"/>
            <a:ext cx="54864" cy="183779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71016" y="2073526"/>
            <a:ext cx="54864" cy="25819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94460" y="2054215"/>
            <a:ext cx="54864" cy="27750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17904" y="2113096"/>
            <a:ext cx="54864" cy="21862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41348" y="2237154"/>
            <a:ext cx="54864" cy="94566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64792" y="2098224"/>
            <a:ext cx="54864" cy="233496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88236" y="1987335"/>
            <a:ext cx="54864" cy="34438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952380"/>
            <a:ext cx="54864" cy="379340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35124" y="2002406"/>
            <a:ext cx="54864" cy="32931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58568" y="2110146"/>
            <a:ext cx="54864" cy="22157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82012" y="2225113"/>
            <a:ext cx="54864" cy="10660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05456" y="2183226"/>
            <a:ext cx="54864" cy="14849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28900" y="2180009"/>
            <a:ext cx="54864" cy="15171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52344" y="2236542"/>
            <a:ext cx="54864" cy="95178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875788" y="2167365"/>
            <a:ext cx="54864" cy="16435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99232" y="2121015"/>
            <a:ext cx="54864" cy="21070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122676" y="2141428"/>
            <a:ext cx="54864" cy="19029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46120" y="2232892"/>
            <a:ext cx="54864" cy="98828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69564" y="2116062"/>
            <a:ext cx="54864" cy="215658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93008" y="1996759"/>
            <a:ext cx="54864" cy="33496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6452" y="1939758"/>
            <a:ext cx="54864" cy="39196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39896" y="1969543"/>
            <a:ext cx="54864" cy="36217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63340" y="2073733"/>
            <a:ext cx="54864" cy="25798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86784" y="2208788"/>
            <a:ext cx="54864" cy="12293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10228" y="2160469"/>
            <a:ext cx="54864" cy="17125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233672" y="2113569"/>
            <a:ext cx="54864" cy="21815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57116" y="2139488"/>
            <a:ext cx="54864" cy="19223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80560" y="2211435"/>
            <a:ext cx="54864" cy="12028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4004" y="2199489"/>
            <a:ext cx="54864" cy="13223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727448" y="2178266"/>
            <a:ext cx="54864" cy="15345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850892" y="2226670"/>
            <a:ext cx="54864" cy="105050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74336" y="2150324"/>
            <a:ext cx="54864" cy="181396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97780" y="2035535"/>
            <a:ext cx="54864" cy="29618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21224" y="1962622"/>
            <a:ext cx="54864" cy="369098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44668" y="1968931"/>
            <a:ext cx="54864" cy="362789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468112" y="2058270"/>
            <a:ext cx="54864" cy="273450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91556" y="2198628"/>
            <a:ext cx="54864" cy="13309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2144055"/>
            <a:ext cx="54864" cy="18766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838444" y="2059393"/>
            <a:ext cx="54864" cy="27232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961888" y="2053075"/>
            <a:ext cx="54864" cy="27864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85332" y="2113874"/>
            <a:ext cx="54864" cy="217846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208776" y="2200508"/>
            <a:ext cx="54864" cy="13121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32220" y="2218574"/>
            <a:ext cx="54864" cy="113146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55664" y="2218238"/>
            <a:ext cx="54864" cy="11348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579108" y="2197978"/>
            <a:ext cx="54864" cy="13374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702552" y="2099773"/>
            <a:ext cx="54864" cy="23194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825996" y="2018344"/>
            <a:ext cx="54864" cy="313376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949440" y="2000012"/>
            <a:ext cx="54864" cy="331708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72884" y="2064413"/>
            <a:ext cx="54864" cy="26730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196328" y="2194467"/>
            <a:ext cx="54864" cy="137253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319772" y="2137109"/>
            <a:ext cx="54864" cy="19461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443216" y="2024630"/>
            <a:ext cx="54864" cy="307090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" y="310896"/>
            <a:ext cx="655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BB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ENGF0031  ·  SMART CLOTHING PROTOTYPE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02920" y="548640"/>
            <a:ext cx="6556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6000" dirty="0"/>
          </a:p>
        </p:txBody>
      </p:sp>
      <p:sp>
        <p:nvSpPr>
          <p:cNvPr id="66" name="Text 64"/>
          <p:cNvSpPr/>
          <p:nvPr/>
        </p:nvSpPr>
        <p:spPr>
          <a:xfrm>
            <a:off x="502920" y="148132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F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wearable that catches a Parkinson's gait freeze and shows it the instant it happens — on the body, on screen.</a:t>
            </a:r>
            <a:endParaRPr lang="en-US" sz="1550" dirty="0"/>
          </a:p>
        </p:txBody>
      </p:sp>
      <p:sp>
        <p:nvSpPr>
          <p:cNvPr id="67" name="Text 65"/>
          <p:cNvSpPr/>
          <p:nvPr/>
        </p:nvSpPr>
        <p:spPr>
          <a:xfrm>
            <a:off x="502920" y="2542032"/>
            <a:ext cx="6556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SENSOR.  THREE JOBS.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502920" y="2926080"/>
            <a:ext cx="2051304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02920" y="2926080"/>
            <a:ext cx="2051304" cy="822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0" name="Shape 68"/>
          <p:cNvSpPr/>
          <p:nvPr/>
        </p:nvSpPr>
        <p:spPr>
          <a:xfrm>
            <a:off x="704088" y="3182112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337560"/>
            <a:ext cx="292608" cy="292608"/>
          </a:xfrm>
          <a:prstGeom prst="rect">
            <a:avLst/>
          </a:prstGeom>
        </p:spPr>
      </p:pic>
      <p:sp>
        <p:nvSpPr>
          <p:cNvPr id="72" name="Text 69"/>
          <p:cNvSpPr/>
          <p:nvPr/>
        </p:nvSpPr>
        <p:spPr>
          <a:xfrm>
            <a:off x="704088" y="3895344"/>
            <a:ext cx="1648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00" kern="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650" dirty="0"/>
          </a:p>
        </p:txBody>
      </p:sp>
      <p:sp>
        <p:nvSpPr>
          <p:cNvPr id="73" name="Text 70"/>
          <p:cNvSpPr/>
          <p:nvPr/>
        </p:nvSpPr>
        <p:spPr>
          <a:xfrm>
            <a:off x="704088" y="4224528"/>
            <a:ext cx="1648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walking activity and movement energy continuously from one ankle accelerometer.</a:t>
            </a:r>
            <a:endParaRPr lang="en-US" sz="1150" dirty="0"/>
          </a:p>
        </p:txBody>
      </p:sp>
      <p:sp>
        <p:nvSpPr>
          <p:cNvPr id="74" name="Shape 71"/>
          <p:cNvSpPr/>
          <p:nvPr/>
        </p:nvSpPr>
        <p:spPr>
          <a:xfrm>
            <a:off x="2755392" y="2926080"/>
            <a:ext cx="2051304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75" name="Shape 72"/>
          <p:cNvSpPr/>
          <p:nvPr/>
        </p:nvSpPr>
        <p:spPr>
          <a:xfrm>
            <a:off x="2755392" y="2926080"/>
            <a:ext cx="2051304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6" name="Shape 73"/>
          <p:cNvSpPr/>
          <p:nvPr/>
        </p:nvSpPr>
        <p:spPr>
          <a:xfrm>
            <a:off x="2956560" y="3182112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008" y="3337560"/>
            <a:ext cx="292608" cy="292608"/>
          </a:xfrm>
          <a:prstGeom prst="rect">
            <a:avLst/>
          </a:prstGeom>
        </p:spPr>
      </p:pic>
      <p:sp>
        <p:nvSpPr>
          <p:cNvPr id="78" name="Text 74"/>
          <p:cNvSpPr/>
          <p:nvPr/>
        </p:nvSpPr>
        <p:spPr>
          <a:xfrm>
            <a:off x="2956560" y="3895344"/>
            <a:ext cx="1648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00" kern="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650" dirty="0"/>
          </a:p>
        </p:txBody>
      </p:sp>
      <p:sp>
        <p:nvSpPr>
          <p:cNvPr id="79" name="Text 75"/>
          <p:cNvSpPr/>
          <p:nvPr/>
        </p:nvSpPr>
        <p:spPr>
          <a:xfrm>
            <a:off x="2956560" y="4224528"/>
            <a:ext cx="1648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Spots freezing of gait with a model trained and validated on real patient recordings.</a:t>
            </a:r>
            <a:endParaRPr lang="en-US" sz="1150" dirty="0"/>
          </a:p>
        </p:txBody>
      </p:sp>
      <p:sp>
        <p:nvSpPr>
          <p:cNvPr id="80" name="Shape 76"/>
          <p:cNvSpPr/>
          <p:nvPr/>
        </p:nvSpPr>
        <p:spPr>
          <a:xfrm>
            <a:off x="5007864" y="2926080"/>
            <a:ext cx="2051304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81" name="Shape 77"/>
          <p:cNvSpPr/>
          <p:nvPr/>
        </p:nvSpPr>
        <p:spPr>
          <a:xfrm>
            <a:off x="5007864" y="2926080"/>
            <a:ext cx="2051304" cy="82296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82" name="Shape 78"/>
          <p:cNvSpPr/>
          <p:nvPr/>
        </p:nvSpPr>
        <p:spPr>
          <a:xfrm>
            <a:off x="5209032" y="3182112"/>
            <a:ext cx="603504" cy="603504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8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0" y="3337560"/>
            <a:ext cx="292608" cy="292608"/>
          </a:xfrm>
          <a:prstGeom prst="rect">
            <a:avLst/>
          </a:prstGeom>
        </p:spPr>
      </p:pic>
      <p:sp>
        <p:nvSpPr>
          <p:cNvPr id="84" name="Text 79"/>
          <p:cNvSpPr/>
          <p:nvPr/>
        </p:nvSpPr>
        <p:spPr>
          <a:xfrm>
            <a:off x="5209032" y="3895344"/>
            <a:ext cx="1648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00" kern="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650" dirty="0"/>
          </a:p>
        </p:txBody>
      </p:sp>
      <p:sp>
        <p:nvSpPr>
          <p:cNvPr id="85" name="Text 80"/>
          <p:cNvSpPr/>
          <p:nvPr/>
        </p:nvSpPr>
        <p:spPr>
          <a:xfrm>
            <a:off x="5209032" y="4224528"/>
            <a:ext cx="1648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live freeze state on an on-body OLED and logs every episode for the clinic.</a:t>
            </a:r>
            <a:endParaRPr lang="en-US" sz="1150" dirty="0"/>
          </a:p>
        </p:txBody>
      </p:sp>
      <p:sp>
        <p:nvSpPr>
          <p:cNvPr id="86" name="Text 81"/>
          <p:cNvSpPr/>
          <p:nvPr/>
        </p:nvSpPr>
        <p:spPr>
          <a:xfrm>
            <a:off x="502920" y="5413248"/>
            <a:ext cx="6556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FROM ANKLE TO SCREEN</a:t>
            </a:r>
            <a:endParaRPr lang="en-US" sz="1500" dirty="0"/>
          </a:p>
        </p:txBody>
      </p:sp>
      <p:sp>
        <p:nvSpPr>
          <p:cNvPr id="87" name="Shape 82"/>
          <p:cNvSpPr/>
          <p:nvPr/>
        </p:nvSpPr>
        <p:spPr>
          <a:xfrm>
            <a:off x="502920" y="5815584"/>
            <a:ext cx="6556248" cy="1078992"/>
          </a:xfrm>
          <a:prstGeom prst="rect">
            <a:avLst/>
          </a:prstGeom>
          <a:solidFill>
            <a:srgbClr val="EAF2F2"/>
          </a:solidFill>
          <a:ln/>
        </p:spPr>
      </p:sp>
      <p:sp>
        <p:nvSpPr>
          <p:cNvPr id="88" name="Shape 83"/>
          <p:cNvSpPr/>
          <p:nvPr/>
        </p:nvSpPr>
        <p:spPr>
          <a:xfrm>
            <a:off x="731520" y="5961888"/>
            <a:ext cx="1417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DE0E0"/>
            </a:solidFill>
            <a:prstDash val="solid"/>
          </a:ln>
        </p:spPr>
      </p:sp>
      <p:pic>
        <p:nvPicPr>
          <p:cNvPr id="8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6190488"/>
            <a:ext cx="329184" cy="329184"/>
          </a:xfrm>
          <a:prstGeom prst="rect">
            <a:avLst/>
          </a:prstGeom>
        </p:spPr>
      </p:pic>
      <p:sp>
        <p:nvSpPr>
          <p:cNvPr id="90" name="Text 84"/>
          <p:cNvSpPr/>
          <p:nvPr/>
        </p:nvSpPr>
        <p:spPr>
          <a:xfrm>
            <a:off x="1280160" y="6016752"/>
            <a:ext cx="8138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
</a:t>
            </a:r>
            <a:endParaRPr lang="en-US" sz="12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Hz · ankle</a:t>
            </a:r>
            <a:endParaRPr lang="en-US" sz="1250" dirty="0"/>
          </a:p>
        </p:txBody>
      </p:sp>
      <p:pic>
        <p:nvPicPr>
          <p:cNvPr id="9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740" y="6236208"/>
            <a:ext cx="237744" cy="237744"/>
          </a:xfrm>
          <a:prstGeom prst="rect">
            <a:avLst/>
          </a:prstGeom>
        </p:spPr>
      </p:pic>
      <p:sp>
        <p:nvSpPr>
          <p:cNvPr id="92" name="Shape 85"/>
          <p:cNvSpPr/>
          <p:nvPr/>
        </p:nvSpPr>
        <p:spPr>
          <a:xfrm>
            <a:off x="3072384" y="5961888"/>
            <a:ext cx="1417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DE0E0"/>
            </a:solidFill>
            <a:prstDash val="solid"/>
          </a:ln>
        </p:spPr>
      </p:sp>
      <p:pic>
        <p:nvPicPr>
          <p:cNvPr id="9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6190488"/>
            <a:ext cx="329184" cy="329184"/>
          </a:xfrm>
          <a:prstGeom prst="rect">
            <a:avLst/>
          </a:prstGeom>
        </p:spPr>
      </p:pic>
      <p:sp>
        <p:nvSpPr>
          <p:cNvPr id="94" name="Text 86"/>
          <p:cNvSpPr/>
          <p:nvPr/>
        </p:nvSpPr>
        <p:spPr>
          <a:xfrm>
            <a:off x="3621024" y="6016752"/>
            <a:ext cx="8138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
</a:t>
            </a:r>
            <a:endParaRPr lang="en-US" sz="12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freeze? (model)</a:t>
            </a:r>
            <a:endParaRPr lang="en-US" sz="1250" dirty="0"/>
          </a:p>
        </p:txBody>
      </p:sp>
      <p:pic>
        <p:nvPicPr>
          <p:cNvPr id="9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604" y="6236208"/>
            <a:ext cx="237744" cy="237744"/>
          </a:xfrm>
          <a:prstGeom prst="rect">
            <a:avLst/>
          </a:prstGeom>
        </p:spPr>
      </p:pic>
      <p:sp>
        <p:nvSpPr>
          <p:cNvPr id="96" name="Shape 87"/>
          <p:cNvSpPr/>
          <p:nvPr/>
        </p:nvSpPr>
        <p:spPr>
          <a:xfrm>
            <a:off x="5413248" y="5961888"/>
            <a:ext cx="1417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DE0E0"/>
            </a:solidFill>
            <a:prstDash val="solid"/>
          </a:ln>
        </p:spPr>
      </p:sp>
      <p:pic>
        <p:nvPicPr>
          <p:cNvPr id="9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9552" y="6190488"/>
            <a:ext cx="329184" cy="329184"/>
          </a:xfrm>
          <a:prstGeom prst="rect">
            <a:avLst/>
          </a:prstGeom>
        </p:spPr>
      </p:pic>
      <p:sp>
        <p:nvSpPr>
          <p:cNvPr id="98" name="Text 88"/>
          <p:cNvSpPr/>
          <p:nvPr/>
        </p:nvSpPr>
        <p:spPr>
          <a:xfrm>
            <a:off x="5961888" y="6016752"/>
            <a:ext cx="8138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
</a:t>
            </a:r>
            <a:endParaRPr lang="en-US" sz="12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+ log</a:t>
            </a:r>
            <a:endParaRPr lang="en-US" sz="1250" dirty="0"/>
          </a:p>
        </p:txBody>
      </p:sp>
      <p:sp>
        <p:nvSpPr>
          <p:cNvPr id="99" name="Text 89"/>
          <p:cNvSpPr/>
          <p:nvPr/>
        </p:nvSpPr>
        <p:spPr>
          <a:xfrm>
            <a:off x="502920" y="6967728"/>
            <a:ext cx="655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freeze shows on-screen the instant it is detected, and is logged for review — one sensor in, one clear answer out.</a:t>
            </a:r>
            <a:endParaRPr lang="en-US" sz="1050" dirty="0"/>
          </a:p>
        </p:txBody>
      </p:sp>
      <p:sp>
        <p:nvSpPr>
          <p:cNvPr id="100" name="Shape 90"/>
          <p:cNvSpPr/>
          <p:nvPr/>
        </p:nvSpPr>
        <p:spPr>
          <a:xfrm>
            <a:off x="502920" y="7479792"/>
            <a:ext cx="2051304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101" name="Text 91"/>
          <p:cNvSpPr/>
          <p:nvPr/>
        </p:nvSpPr>
        <p:spPr>
          <a:xfrm>
            <a:off x="502920" y="7571232"/>
            <a:ext cx="2051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≈50%</a:t>
            </a:r>
            <a:endParaRPr lang="en-US" sz="3000" dirty="0"/>
          </a:p>
        </p:txBody>
      </p:sp>
      <p:sp>
        <p:nvSpPr>
          <p:cNvPr id="102" name="Text 92"/>
          <p:cNvSpPr/>
          <p:nvPr/>
        </p:nvSpPr>
        <p:spPr>
          <a:xfrm>
            <a:off x="594360" y="8010144"/>
            <a:ext cx="1868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people with Parkinson's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freezing of gait*</a:t>
            </a:r>
            <a:endParaRPr lang="en-US" sz="1000" dirty="0"/>
          </a:p>
        </p:txBody>
      </p:sp>
      <p:sp>
        <p:nvSpPr>
          <p:cNvPr id="103" name="Shape 93"/>
          <p:cNvSpPr/>
          <p:nvPr/>
        </p:nvSpPr>
        <p:spPr>
          <a:xfrm>
            <a:off x="2755392" y="7479792"/>
            <a:ext cx="2051304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104" name="Text 94"/>
          <p:cNvSpPr/>
          <p:nvPr/>
        </p:nvSpPr>
        <p:spPr>
          <a:xfrm>
            <a:off x="2755392" y="7571232"/>
            <a:ext cx="2051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Hz</a:t>
            </a:r>
            <a:endParaRPr lang="en-US" sz="3000" dirty="0"/>
          </a:p>
        </p:txBody>
      </p:sp>
      <p:sp>
        <p:nvSpPr>
          <p:cNvPr id="105" name="Text 95"/>
          <p:cNvSpPr/>
          <p:nvPr/>
        </p:nvSpPr>
        <p:spPr>
          <a:xfrm>
            <a:off x="2846832" y="8010144"/>
            <a:ext cx="1868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ankle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accelerometer</a:t>
            </a:r>
            <a:endParaRPr lang="en-US" sz="1000" dirty="0"/>
          </a:p>
        </p:txBody>
      </p:sp>
      <p:sp>
        <p:nvSpPr>
          <p:cNvPr id="106" name="Shape 96"/>
          <p:cNvSpPr/>
          <p:nvPr/>
        </p:nvSpPr>
        <p:spPr>
          <a:xfrm>
            <a:off x="5007864" y="7479792"/>
            <a:ext cx="2051304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107" name="Text 97"/>
          <p:cNvSpPr/>
          <p:nvPr/>
        </p:nvSpPr>
        <p:spPr>
          <a:xfrm>
            <a:off x="5007864" y="7571232"/>
            <a:ext cx="2051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s</a:t>
            </a:r>
            <a:endParaRPr lang="en-US" sz="3000" dirty="0"/>
          </a:p>
        </p:txBody>
      </p:sp>
      <p:sp>
        <p:nvSpPr>
          <p:cNvPr id="108" name="Text 98"/>
          <p:cNvSpPr/>
          <p:nvPr/>
        </p:nvSpPr>
        <p:spPr>
          <a:xfrm>
            <a:off x="5099304" y="8010144"/>
            <a:ext cx="1868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re-checked,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on the body</a:t>
            </a:r>
            <a:endParaRPr lang="en-US" sz="1000" dirty="0"/>
          </a:p>
        </p:txBody>
      </p:sp>
      <p:sp>
        <p:nvSpPr>
          <p:cNvPr id="109" name="Text 99"/>
          <p:cNvSpPr/>
          <p:nvPr/>
        </p:nvSpPr>
        <p:spPr>
          <a:xfrm>
            <a:off x="502920" y="8430768"/>
            <a:ext cx="655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*Estimates vary with disease stage and assessment; commonly cited around 50%.</a:t>
            </a:r>
            <a:endParaRPr lang="en-US" sz="850" dirty="0"/>
          </a:p>
        </p:txBody>
      </p:sp>
      <p:sp>
        <p:nvSpPr>
          <p:cNvPr id="110" name="Text 100"/>
          <p:cNvSpPr/>
          <p:nvPr/>
        </p:nvSpPr>
        <p:spPr>
          <a:xfrm>
            <a:off x="502920" y="8796528"/>
            <a:ext cx="6556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good company.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on ideas demonstrated by Apple Watch's Movement Disorder API, PDMonitor and STAT-ON — clinical-grade Parkinson's monitors — in one low-cost wearable.</a:t>
            </a:r>
            <a:endParaRPr lang="en-US" sz="1100" dirty="0"/>
          </a:p>
        </p:txBody>
      </p:sp>
      <p:sp>
        <p:nvSpPr>
          <p:cNvPr id="111" name="Shape 101"/>
          <p:cNvSpPr/>
          <p:nvPr/>
        </p:nvSpPr>
        <p:spPr>
          <a:xfrm>
            <a:off x="502920" y="9381744"/>
            <a:ext cx="6556248" cy="402336"/>
          </a:xfrm>
          <a:prstGeom prst="rect">
            <a:avLst/>
          </a:prstGeom>
          <a:solidFill>
            <a:srgbClr val="E7F4F0"/>
          </a:solidFill>
          <a:ln/>
        </p:spPr>
      </p:sp>
      <p:pic>
        <p:nvPicPr>
          <p:cNvPr id="11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9473184"/>
            <a:ext cx="219456" cy="219456"/>
          </a:xfrm>
          <a:prstGeom prst="rect">
            <a:avLst/>
          </a:prstGeom>
        </p:spPr>
      </p:pic>
      <p:sp>
        <p:nvSpPr>
          <p:cNvPr id="113" name="Text 102"/>
          <p:cNvSpPr/>
          <p:nvPr/>
        </p:nvSpPr>
        <p:spPr>
          <a:xfrm>
            <a:off x="960120" y="9381744"/>
            <a:ext cx="6007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on real patient recordings (Daphnet) using leave-one-subject-out testing.</a:t>
            </a:r>
            <a:endParaRPr lang="en-US" sz="1100" dirty="0"/>
          </a:p>
        </p:txBody>
      </p:sp>
      <p:sp>
        <p:nvSpPr>
          <p:cNvPr id="114" name="Shape 103"/>
          <p:cNvSpPr/>
          <p:nvPr/>
        </p:nvSpPr>
        <p:spPr>
          <a:xfrm>
            <a:off x="0" y="9985248"/>
            <a:ext cx="7562088" cy="704088"/>
          </a:xfrm>
          <a:prstGeom prst="rect">
            <a:avLst/>
          </a:prstGeom>
          <a:solidFill>
            <a:srgbClr val="0B3B4A"/>
          </a:solidFill>
          <a:ln/>
        </p:spPr>
      </p:sp>
      <p:sp>
        <p:nvSpPr>
          <p:cNvPr id="115" name="Text 104"/>
          <p:cNvSpPr/>
          <p:nvPr/>
        </p:nvSpPr>
        <p:spPr>
          <a:xfrm>
            <a:off x="502920" y="9985248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F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 — wearable freeze-of-gait monitor</a:t>
            </a:r>
            <a:endParaRPr lang="en-US" sz="1000" dirty="0"/>
          </a:p>
        </p:txBody>
      </p:sp>
      <p:sp>
        <p:nvSpPr>
          <p:cNvPr id="116" name="Text 105"/>
          <p:cNvSpPr/>
          <p:nvPr/>
        </p:nvSpPr>
        <p:spPr>
          <a:xfrm>
            <a:off x="3703320" y="9985248"/>
            <a:ext cx="3355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prototype — not a medical device</a:t>
            </a:r>
            <a:endParaRPr lang="en-US" sz="95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ENGF0031 Scenario 2  · 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Cadence — Parkinson's gait garment</dc:title>
  <dc:subject>PptxGenJS Presentation</dc:subject>
  <dc:creator>UCL ENGF0031 Scenario 2</dc:creator>
  <cp:lastModifiedBy>UCL ENGF0031 Scenario 2</cp:lastModifiedBy>
  <cp:revision>1</cp:revision>
  <dcterms:created xsi:type="dcterms:W3CDTF">2026-06-03T23:17:20Z</dcterms:created>
  <dcterms:modified xsi:type="dcterms:W3CDTF">2026-06-03T23:17:20Z</dcterms:modified>
</cp:coreProperties>
</file>