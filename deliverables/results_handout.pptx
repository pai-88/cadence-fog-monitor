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234440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B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PATIENT DATA  ·  LEAVE-ONE-SUBJECT-OUT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6556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freeze detector work?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FoGNet 1-D CNN  ·  Daphnet (10 Parkinson's patients)  ·  ankle accelerometer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2051304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81328"/>
            <a:ext cx="2051304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9344"/>
            <a:ext cx="205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1868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real freezes caught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(sensitivity)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55392" y="1481328"/>
            <a:ext cx="2051304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55392" y="1481328"/>
            <a:ext cx="2051304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55392" y="1609344"/>
            <a:ext cx="205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46832" y="2103120"/>
            <a:ext cx="1868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walking correctly cleared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(specificity)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7864" y="1481328"/>
            <a:ext cx="2051304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07864" y="1481328"/>
            <a:ext cx="2051304" cy="73152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007864" y="1609344"/>
            <a:ext cx="205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099304" y="2103120"/>
            <a:ext cx="1868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accuracy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(sens + spec) /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788920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 ·  n=8982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8686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</a:t>
            </a:r>
            <a:pPr algn="ctr" indent="0" marL="0">
              <a:buNone/>
            </a:pPr>
            <a:r>
              <a:rPr lang="en-US" sz="75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pPr algn="ctr" indent="0" marL="0">
              <a:buNone/>
            </a:pPr>
            <a:r>
              <a:rPr lang="en-US" sz="7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pred </a:t>
            </a:r>
            <a:pPr algn="ctr" indent="0" marL="0">
              <a:buNone/>
            </a:pPr>
            <a:r>
              <a:rPr lang="en-US" sz="75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371600" y="3200400"/>
            <a:ext cx="1115568" cy="420624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20040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no-freeze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87168" y="3200400"/>
            <a:ext cx="1115568" cy="420624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23" name="Text 21"/>
          <p:cNvSpPr/>
          <p:nvPr/>
        </p:nvSpPr>
        <p:spPr>
          <a:xfrm>
            <a:off x="2487168" y="320040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868680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62102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no-freeze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462272"/>
            <a:ext cx="868680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46227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71600" y="3621024"/>
            <a:ext cx="1115568" cy="841248"/>
          </a:xfrm>
          <a:prstGeom prst="rect">
            <a:avLst/>
          </a:prstGeom>
          <a:solidFill>
            <a:srgbClr val="E7EE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3621024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6842
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walk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487168" y="3621024"/>
            <a:ext cx="1115568" cy="841248"/>
          </a:xfrm>
          <a:prstGeom prst="rect">
            <a:avLst/>
          </a:prstGeom>
          <a:solidFill>
            <a:srgbClr val="FCEF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87168" y="3621024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1285
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371600" y="4462272"/>
            <a:ext cx="1115568" cy="841248"/>
          </a:xfrm>
          <a:prstGeom prst="rect">
            <a:avLst/>
          </a:prstGeom>
          <a:solidFill>
            <a:srgbClr val="FBE3E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4462272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
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freeze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487168" y="4462272"/>
            <a:ext cx="1115568" cy="841248"/>
          </a:xfrm>
          <a:prstGeom prst="rect">
            <a:avLst/>
          </a:prstGeom>
          <a:solidFill>
            <a:srgbClr val="DCF1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87168" y="4462272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607
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freeze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11480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BASELINES</a:t>
            </a:r>
            <a:endParaRPr lang="en-US" sz="13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3200400"/>
          <a:ext cx="2926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85800"/>
                <a:gridCol w="685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FoGNet (CNN)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Freeze-Index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155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'no-freeze'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155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234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4114800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held-out patient is scored once, then pooled — no patient is in both train and test.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02920" y="5532120"/>
            <a:ext cx="6556248" cy="841248"/>
          </a:xfrm>
          <a:prstGeom prst="rect">
            <a:avLst/>
          </a:prstGeom>
          <a:solidFill>
            <a:srgbClr val="FBF1DD"/>
          </a:solidFill>
          <a:ln/>
        </p:spPr>
      </p:sp>
      <p:sp>
        <p:nvSpPr>
          <p:cNvPr id="40" name="Shape 37"/>
          <p:cNvSpPr/>
          <p:nvPr/>
        </p:nvSpPr>
        <p:spPr>
          <a:xfrm>
            <a:off x="502920" y="5532120"/>
            <a:ext cx="91440" cy="84124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1" name="Text 38"/>
          <p:cNvSpPr/>
          <p:nvPr/>
        </p:nvSpPr>
        <p:spPr>
          <a:xfrm>
            <a:off x="758952" y="5532120"/>
            <a:ext cx="6099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9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“accuracy”?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NEVER calls a freeze scores 90.5% accuracy — yet catches zero freezes and prevents zero falls. A missed freeze can mean a fall, so sensitivity &amp; specificity are the honest metrics here, not accuracy.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02920" y="6583680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METHOD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502920" y="6903720"/>
            <a:ext cx="655624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31520" y="6995160"/>
            <a:ext cx="6099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8982 four-second windows (2 s hop), one ankle accelerometer @ 64 Hz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prevalence 9.5%  (855 freeze / 8127 walk) — a rare, safety-critical event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Leave-One-Subject-Out across all 10 patients; metrics pooled over held-out windows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 &amp; S10 have no freeze episodes → used for training only (sensitivity undefined as a test fold)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02920" y="8321040"/>
            <a:ext cx="6556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Per-patient sensitivity spans 0.45–0.98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(wide between-subject variability is expected for real Parkinson's gait; the pooled 0.71 is the headline).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0" y="10122408"/>
            <a:ext cx="7562088" cy="566928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101224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— closed-loop gait garment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3401568" y="101224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B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 ·  page 1 of 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234440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B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INTERPRETABILITY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6556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signals flag a freeze?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over 9 engineered features  ·  held-out patient S05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556248" cy="713232"/>
          </a:xfrm>
          <a:prstGeom prst="rect">
            <a:avLst/>
          </a:prstGeom>
          <a:solidFill>
            <a:srgbClr val="E7F4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371600"/>
            <a:ext cx="91440" cy="7132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371600"/>
            <a:ext cx="6099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5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SHAP and permutation importance rank the classical Freeze-Index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9 features — so the dead FI baseline is explained, not just observed. Movement dynamics (jerk, dominant frequency, magnitude) carry the signal.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" y="2276856"/>
            <a:ext cx="3200400" cy="21701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pic>
        <p:nvPicPr>
          <p:cNvPr id="10" name="Image 0" descr="/Users/paing/Documents/scenario2_pd/colab/fog_plots/interp_shap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31720"/>
            <a:ext cx="3090672" cy="20604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4104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— mean impact per feature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13632" y="2276856"/>
            <a:ext cx="3200400" cy="21701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pic>
        <p:nvPicPr>
          <p:cNvPr id="13" name="Image 1" descr="/Users/paing/Documents/scenario2_pd/colab/fog_plots/interp_perm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331720"/>
            <a:ext cx="3090672" cy="20604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68496" y="44104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 importance — accuracy drop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988820" y="4840224"/>
            <a:ext cx="3584448" cy="2426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pic>
        <p:nvPicPr>
          <p:cNvPr id="16" name="Image 2" descr="/Users/paing/Documents/scenario2_pd/colab/fog_plots/interp_shap_beeswa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684" y="4895088"/>
            <a:ext cx="3474720" cy="2316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43684" y="7229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beeswarm — red = high feature value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25780" y="7659624"/>
            <a:ext cx="6510528" cy="1887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pic>
        <p:nvPicPr>
          <p:cNvPr id="19" name="Image 3" descr="/Users/paing/Documents/scenario2_pd/colab/fog_plots/interp_partial_depend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7714488"/>
            <a:ext cx="6400800" cy="1778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0644" y="95473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dependence — P(freeze) vs. the three most influential features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0" y="10122408"/>
            <a:ext cx="7562088" cy="566928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22" name="Text 16"/>
          <p:cNvSpPr/>
          <p:nvPr/>
        </p:nvSpPr>
        <p:spPr>
          <a:xfrm>
            <a:off x="502920" y="101224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— closed-loop gait garment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401568" y="101224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B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 ·  page 2 of 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— FoG detector results</dc:title>
  <dc:subject>PptxGenJS Presentation</dc:subject>
  <dc:creator>UCL ENGF0031 Scenario 2</dc:creator>
  <cp:lastModifiedBy>UCL ENGF0031 Scenario 2</cp:lastModifiedBy>
  <cp:revision>1</cp:revision>
  <dcterms:created xsi:type="dcterms:W3CDTF">2026-06-01T20:18:51Z</dcterms:created>
  <dcterms:modified xsi:type="dcterms:W3CDTF">2026-06-01T20:18:51Z</dcterms:modified>
</cp:coreProperties>
</file>